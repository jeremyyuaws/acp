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5E7EE30-6FB3-4425-A8EC-688AE0E319FE}" type="datetimeFigureOut">
              <a:t>6/22/2026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5425" y="1524000"/>
            <a:ext cx="7308850" cy="41132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5813"/>
            <a:ext cx="5486400" cy="47990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77638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77638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2897278-16A0-4389-839B-EE4C8F57A5C5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67586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46304" cy="146304"/>
          </a:xfrm>
          <a:prstGeom prst="ellipse">
            <a:avLst/>
          </a:prstGeom>
          <a:solidFill>
            <a:srgbClr val="E6007E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37490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60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0408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the next two slides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3502152" cy="960120"/>
          </a:xfrm>
          <a:prstGeom prst="roundRect">
            <a:avLst>
              <a:gd name="adj" fmla="val 7619"/>
            </a:avLst>
          </a:prstGeom>
          <a:solidFill>
            <a:srgbClr val="F5F5F7"/>
          </a:solidFill>
          <a:ln w="12700">
            <a:solidFill>
              <a:srgbClr val="E6E6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627632"/>
            <a:ext cx="182880" cy="182880"/>
          </a:xfrm>
          <a:prstGeom prst="ellipse">
            <a:avLst/>
          </a:prstGeom>
          <a:solidFill>
            <a:srgbClr val="6E6E7A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68680" y="188366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Reads the file's own tags, metadata &amp; colours and fixes by script. No human needed.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1417320"/>
            <a:ext cx="3502152" cy="960120"/>
          </a:xfrm>
          <a:prstGeom prst="roundRect">
            <a:avLst>
              <a:gd name="adj" fmla="val 7619"/>
            </a:avLst>
          </a:prstGeom>
          <a:solidFill>
            <a:srgbClr val="F5F5F7"/>
          </a:solidFill>
          <a:ln w="12700">
            <a:solidFill>
              <a:srgbClr val="E6E6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1627632"/>
            <a:ext cx="182880" cy="182880"/>
          </a:xfrm>
          <a:prstGeom prst="ellipse">
            <a:avLst/>
          </a:prstGeom>
          <a:solidFill>
            <a:srgbClr val="E6007E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 (LLM / vision)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526280" y="188366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reads content or images to detect, judge or draft. A human then confirms.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955280" y="1417320"/>
            <a:ext cx="3502152" cy="960120"/>
          </a:xfrm>
          <a:prstGeom prst="roundRect">
            <a:avLst>
              <a:gd name="adj" fmla="val 7619"/>
            </a:avLst>
          </a:prstGeom>
          <a:solidFill>
            <a:srgbClr val="F5F5F7"/>
          </a:solidFill>
          <a:ln w="12700">
            <a:solidFill>
              <a:srgbClr val="E6E6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83880" y="1627632"/>
            <a:ext cx="182880" cy="182880"/>
          </a:xfrm>
          <a:prstGeom prst="ellipse">
            <a:avLst/>
          </a:prstGeom>
          <a:solidFill>
            <a:srgbClr val="26262E"/>
          </a:solidFill>
          <a:ln/>
        </p:spPr>
      </p:sp>
      <p:sp>
        <p:nvSpPr>
          <p:cNvPr id="15" name="Text 13"/>
          <p:cNvSpPr/>
          <p:nvPr/>
        </p:nvSpPr>
        <p:spPr>
          <a:xfrm>
            <a:off x="8458200" y="15361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/ AT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183880" y="188366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specialist or assistive-tech tester verifies and signs off the result.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0080" y="26974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60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TERMS  (how we detect)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3017520"/>
            <a:ext cx="5074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parse   </a:t>
            </a:r>
            <a:r>
              <a:rPr lang="en-US" sz="105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checks the document's own tags, metadata and colour values — gives a clear pass/fail.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0080" y="3767328"/>
            <a:ext cx="5074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Static, flag only   </a:t>
            </a:r>
            <a:r>
              <a:rPr lang="en-US" sz="105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spots risk signals but can't confirm pass/fail without running the file; sent to a human.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0080" y="4517136"/>
            <a:ext cx="5074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detect / scan   </a:t>
            </a:r>
            <a:r>
              <a:rPr lang="en-US" sz="105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finds the issue: a foreign-language passage, a sensory instruction, text inside an image.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40080" y="5266944"/>
            <a:ext cx="5074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judge   </a:t>
            </a:r>
            <a:r>
              <a:rPr lang="en-US" sz="105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model rates quality — is the heading descriptive? does the link text make sense?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080760" y="269748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E60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TERMS  (how we fix)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080760" y="3017520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   </a:t>
            </a:r>
            <a:r>
              <a:rPr lang="en-US" sz="105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platform fix (auto-tag, auto-set, auto-recolour) — runs without a human.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080760" y="3767328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draft / rewrite   </a:t>
            </a:r>
            <a:r>
              <a:rPr lang="en-US" sz="105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generates the fix (alt text, reworded cue, link text); a human then approves it.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080760" y="4517136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OCR → text   </a:t>
            </a:r>
            <a:r>
              <a:rPr lang="en-US" sz="105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converts an image of text into real, selectable, taggable text.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080760" y="5266944"/>
            <a:ext cx="5394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Human  /  + Design   </a:t>
            </a:r>
            <a:r>
              <a:rPr lang="en-US" sz="105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specialist (or designer) validates and signs off before it counts.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897880"/>
            <a:ext cx="10881360" cy="685800"/>
          </a:xfrm>
          <a:prstGeom prst="roundRect">
            <a:avLst>
              <a:gd name="adj" fmla="val 9333"/>
            </a:avLst>
          </a:prstGeom>
          <a:solidFill>
            <a:srgbClr val="FBF3F8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589788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E6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human?  </a:t>
            </a:r>
            <a:r>
              <a:rPr lang="en-US" sz="1050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specific reason a person must sign off, even when the platform does the heavy lifting.        </a:t>
            </a:r>
            <a:r>
              <a:rPr lang="en-US" sz="1050" b="1" dirty="0">
                <a:solidFill>
                  <a:srgbClr val="E60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</a:t>
            </a:r>
            <a:r>
              <a:rPr lang="en-US" sz="1050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interactive PDFs / fillable forms only — not static documents.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1274552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Mova iO AccessOps  ·  Documents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46304" cy="146304"/>
          </a:xfrm>
          <a:prstGeom prst="ellipse">
            <a:avLst/>
          </a:prstGeom>
          <a:solidFill>
            <a:srgbClr val="E6007E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37490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60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VALIDATE &amp;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0408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&amp; remediation — all 20 codes  (1 of 2)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37160" cy="137160"/>
          </a:xfrm>
          <a:prstGeom prst="ellipse">
            <a:avLst/>
          </a:prstGeom>
          <a:solidFill>
            <a:srgbClr val="6E6E7A"/>
          </a:solidFill>
          <a:ln/>
        </p:spPr>
      </p:sp>
      <p:sp>
        <p:nvSpPr>
          <p:cNvPr id="6" name="Text 4"/>
          <p:cNvSpPr/>
          <p:nvPr/>
        </p:nvSpPr>
        <p:spPr>
          <a:xfrm>
            <a:off x="850392" y="133502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 (static parse / auto-fix)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0" y="1417320"/>
            <a:ext cx="137160" cy="137160"/>
          </a:xfrm>
          <a:prstGeom prst="ellipse">
            <a:avLst/>
          </a:prstGeom>
          <a:solidFill>
            <a:srgbClr val="E6007E"/>
          </a:solidFill>
          <a:ln/>
        </p:spPr>
      </p:sp>
      <p:sp>
        <p:nvSpPr>
          <p:cNvPr id="8" name="Text 6"/>
          <p:cNvSpPr/>
          <p:nvPr/>
        </p:nvSpPr>
        <p:spPr>
          <a:xfrm>
            <a:off x="3867912" y="133502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 (LLM / vision)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66944" y="1417320"/>
            <a:ext cx="137160" cy="137160"/>
          </a:xfrm>
          <a:prstGeom prst="ellipse">
            <a:avLst/>
          </a:prstGeom>
          <a:solidFill>
            <a:srgbClr val="26262E"/>
          </a:solidFill>
          <a:ln/>
        </p:spPr>
      </p:sp>
      <p:sp>
        <p:nvSpPr>
          <p:cNvPr id="10" name="Text 8"/>
          <p:cNvSpPr/>
          <p:nvPr/>
        </p:nvSpPr>
        <p:spPr>
          <a:xfrm>
            <a:off x="5477256" y="133502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/ AT sign-off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789920" cy="448056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Remediation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human?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 gridSpan="5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 &amp; reading order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A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Non-text content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— missing alt + </a:t>
                      </a: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/ vision</a:t>
                      </a: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draft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alt text can misread the image's intent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Info &amp; relationships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— tag tree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Auto-tag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Auto-tags can mis-nest headings or lists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Meaningful sequence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sequence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person must confirm the order reads sensibly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Sensory characteristics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— text scan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rewrite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Reword must not change the instruction's meaning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2.4.6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Headings &amp; labels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+ </a:t>
                      </a: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judge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suggest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Whether a heading is descriptive is subjective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01752">
                <a:tc gridSpan="5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Language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A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Language of page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+ </a:t>
                      </a: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Auto-set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EAE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Language of parts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detect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Auto-tag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EAE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01752">
                <a:tc gridSpan="5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 &amp; contrast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A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1.4.1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 of color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+ </a:t>
                      </a: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/ vision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cue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Choosing a non-colour cue is a design decision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1.4.3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Contrast (minimum)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— compute ratio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Auto-recolor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colours must still meet brand rules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1.4.11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Non-text contrast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+ </a:t>
                      </a: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vision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Auto-recolor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Recolour mustn't change what the graphic shows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" y="63276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‘Auto-’ = deterministic platform fix. Metadata &amp; language fixes are fully automated; everything else closes with human sign-off.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4552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Mova iO AccessOps  ·  Documents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57200"/>
            <a:ext cx="146304" cy="146304"/>
          </a:xfrm>
          <a:prstGeom prst="ellipse">
            <a:avLst/>
          </a:prstGeom>
          <a:solidFill>
            <a:srgbClr val="E6007E"/>
          </a:solidFill>
          <a:ln/>
        </p:spPr>
      </p:sp>
      <p:sp>
        <p:nvSpPr>
          <p:cNvPr id="3" name="Text 1"/>
          <p:cNvSpPr/>
          <p:nvPr/>
        </p:nvSpPr>
        <p:spPr>
          <a:xfrm>
            <a:off x="896112" y="37490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60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VALIDATE &amp; FIX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04088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&amp; remediation — all 20 codes  (2 of 2)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417320"/>
            <a:ext cx="137160" cy="137160"/>
          </a:xfrm>
          <a:prstGeom prst="ellipse">
            <a:avLst/>
          </a:prstGeom>
          <a:solidFill>
            <a:srgbClr val="6E6E7A"/>
          </a:solidFill>
          <a:ln/>
        </p:spPr>
      </p:sp>
      <p:sp>
        <p:nvSpPr>
          <p:cNvPr id="6" name="Text 4"/>
          <p:cNvSpPr/>
          <p:nvPr/>
        </p:nvSpPr>
        <p:spPr>
          <a:xfrm>
            <a:off x="850392" y="133502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 (static parse / auto-fix)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0" y="1417320"/>
            <a:ext cx="137160" cy="137160"/>
          </a:xfrm>
          <a:prstGeom prst="ellipse">
            <a:avLst/>
          </a:prstGeom>
          <a:solidFill>
            <a:srgbClr val="E6007E"/>
          </a:solidFill>
          <a:ln/>
        </p:spPr>
      </p:sp>
      <p:sp>
        <p:nvSpPr>
          <p:cNvPr id="8" name="Text 6"/>
          <p:cNvSpPr/>
          <p:nvPr/>
        </p:nvSpPr>
        <p:spPr>
          <a:xfrm>
            <a:off x="3867912" y="133502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 (LLM / vision)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66944" y="1417320"/>
            <a:ext cx="137160" cy="137160"/>
          </a:xfrm>
          <a:prstGeom prst="ellipse">
            <a:avLst/>
          </a:prstGeom>
          <a:solidFill>
            <a:srgbClr val="26262E"/>
          </a:solidFill>
          <a:ln/>
        </p:spPr>
      </p:sp>
      <p:sp>
        <p:nvSpPr>
          <p:cNvPr id="10" name="Text 8"/>
          <p:cNvSpPr/>
          <p:nvPr/>
        </p:nvSpPr>
        <p:spPr>
          <a:xfrm>
            <a:off x="5477256" y="133502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/ AT sign-off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777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 check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Assessment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Remediation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2626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human?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C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1752">
                <a:tc gridSpan="5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presentation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A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1.4.4 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Resize text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— flag only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Real-text / tag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only confirmable by zooming to 200%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1.4.5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Images of text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— OCR / vision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OCR→text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OCR can misread characters; human checks text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1.4.10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Reflow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(via tags)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Auto-tag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Reflow only verifiable by viewing tagged file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1.4.12 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 spacing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— flag only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Author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 only shows after applying spacing overrides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01752">
                <a:tc gridSpan="5"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Navigation &amp; interactive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AF3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2.4.2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Page titled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— metadata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Auto-set (</a:t>
                      </a: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-derived)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dirty="0">
                          <a:solidFill>
                            <a:srgbClr val="AEAE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2.4.3 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Focus order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order + </a:t>
                      </a: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Reorder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 order must be walked to confirm it's logical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2.4.4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Link purpose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+ </a:t>
                      </a: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judge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rewrite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Rewritten link text must match its destination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2.1.1 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Keyboard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— flag only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fix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Must be tabbed through to prove it's operable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2.1.2 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keyboard trap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 fix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Only found by tabbing in and trying to exit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461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E6007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4.1.2 *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Name, role, value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Static presence + </a:t>
                      </a: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E6007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</a:t>
                      </a:r>
                      <a:r>
                        <a:rPr lang="en-US" sz="950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ARIA / labels + </a:t>
                      </a:r>
                      <a:r>
                        <a:rPr lang="en-US" sz="950" b="1" dirty="0">
                          <a:solidFill>
                            <a:srgbClr val="26262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</a:t>
                      </a:r>
                      <a:endParaRPr lang="en-US" sz="1200" dirty="0"/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 i="1" dirty="0">
                          <a:solidFill>
                            <a:srgbClr val="6E6E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Auto-detected name or role may be wrong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6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40080" y="63276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 Interactive PDFs / fillable forms only — not static documents; flag-or-human under the no-UI-automation rule.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4552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640080" y="649224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E6E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Mova iO AccessOps  ·  Documents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Custom</PresentationFormat>
  <Paragraphs>0</Paragraphs>
  <Slides>3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Office Theme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2</cp:revision>
  <dcterms:created xsi:type="dcterms:W3CDTF">2026-06-22T20:00:45Z</dcterms:created>
  <dcterms:modified xsi:type="dcterms:W3CDTF">2026-06-22T20:26:00Z</dcterms:modified>
</cp:coreProperties>
</file>