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Sz cx="12192000" cy="6858000"/>
  <p:notesSz cx="6858000" cy="9144000"/>
  <p:sldIdLst>
    <p:sldId id="256" r:id="rId2"/>
    <p:sldId id="257" r:id="rId3"/>
    <p:sldId id="258" r:id="rId4"/>
    <p:sldId id="259" r:id="rId5"/>
    <p:sldId id="260" r:id="rId6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  <Relationship Id="rId2" Type="http://schemas.openxmlformats.org/officeDocument/2006/relationships/image" Target="../media/chart_revenue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  <Relationship Id="rId2" Type="http://schemas.openxmlformats.org/officeDocument/2006/relationships/image" Target="../media/chart_headcount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  <Relationship Id="rId2" Type="http://schemas.openxmlformats.org/officeDocument/2006/relationships/image" Target="../media/chart_table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1600000"/>
            <a:ext cx="11277600" cy="12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dirty="0" b="1">
                <a:solidFill>
                  <a:srgbClr val="162A52"/>
                </a:solidFill>
              </a:rPr>
              <a:t>Q2 2026 Quarterly Town Hall</a:t>
            </a:r>
          </a:p>
        </p:txBody>
      </p:sp>
      <p:sp>
        <p:nvSpPr>
          <p:cNvPr id="3" name="Sub"/>
          <p:cNvSpPr>
            <a:spLocks noGrp="1"/>
          </p:cNvSpPr>
          <p:nvPr/>
        </p:nvSpPr>
        <p:spPr>
          <a:xfrm>
            <a:off x="457200" y="2900000"/>
            <a:ext cx="11277600" cy="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dirty="0" b="0">
                <a:solidFill>
                  <a:srgbClr val="4A5568"/>
                </a:solidFill>
              </a:rPr>
              <a:t>UT Southwestern Medical Center  ·  June 19, 2026</a:t>
            </a:r>
          </a:p>
        </p:txBody>
      </p:sp>
      <p:sp>
        <p:nvSpPr>
          <p:cNvPr id="4" name="Pre"/>
          <p:cNvSpPr>
            <a:spLocks noGrp="1"/>
          </p:cNvSpPr>
          <p:nvPr/>
        </p:nvSpPr>
        <p:spPr>
          <a:xfrm>
            <a:off x="457200" y="3600000"/>
            <a:ext cx="112776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dirty="0" b="0">
                <a:solidFill>
                  <a:srgbClr val="4A5568"/>
                </a:solidFill>
              </a:rPr>
              <a:t>Presented by Jordan Rivera, Chief Operating Officer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457200" y="5800000"/>
            <a:ext cx="11277600" cy="3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dirty="0" b="0">
                <a:solidFill>
                  <a:srgbClr val="C2185B"/>
                </a:solidFill>
              </a:rPr>
              <a:t>CONFIDENTIAL — For internal distribution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hart_Reven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118872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 standalone="yes"?>
<p:sld xmlns:a="http://schemas.openxmlformats.org/drawingml/2006/main"
  xmlns:p="http://schemas.openxmlformats.org/presentationml/2006/main"
  xmlns:r="http://schemas.openxmlformats.org/officeDocument/2006/relationships">
  <p:cSld><p:spTree>
    <p:nvGrpSpPr><p:cNvPr id="1" name=""/><p:cNvGrpSpPr/><p:nvPr/></p:nvGrpSpPr>
    <p:grpSpPr/>
    <p:sp>
  <p:nvSpPr><p:cNvPr id="2" name="Title"/><p:cNvSpPr><a:spLocks noGrp="1"/></p:cNvSpPr><p:nvPr/></p:nvSpPr>
  <p:spPr><a:xfrm><a:off x="457200" y="80000"/><a:ext cx="11277600" cy="600000"/></a:xfrm><a:prstGeom prst="rect"><a:avLst/></a:prstGeom><a:noFill/></p:spPr>
  <p:txBody><a:bodyPr/><a:lstStyle/>
    <a:p><a:r><a:rPr lang="en-US" sz="2600" dirty="0" b="1"><a:solidFill><a:srgbClr val="162A52"/></a:solidFill></a:rPr><a:t>Workforce & Headcount</a:t></a:r></a:p>
  </p:txBody>
</p:sp><p:pic>
  <p:nvPicPr>
    <p:cNvPr id="3" name="Chart_Headcount"/>
    <p:cNvPicPr><a:picLocks noChangeAspect="1"/></p:cNvPicPr>
    <p:nvPr/>
  </p:nvPicPr>
  <p:blipFill><a:blip r:embed="rId2"/><a:stretch><a:fillRect/></a:stretch></p:blipFill>
  <p:spPr>
    <a:xfrm><a:off x="152400" y="685000"/><a:ext cx="11887200" cy="6020600"/></a:xfrm>
    <a:prstGeom prst="rect"><a:avLst/></a:prstGeom>
  </p:spPr>
</p:pic>
  </p:spTree></p:cSld>
  <p:clrMapOvr><a:masterClrMapping/>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hart_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118872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80000"/>
            <a:ext cx="11277600" cy="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 dirty="0" b="1">
                <a:solidFill>
                  <a:srgbClr val="162A52"/>
                </a:solidFill>
              </a:rPr>
              <a:t>H2 2026 Strategic Priorities</a:t>
            </a:r>
          </a:p>
        </p:txBody>
      </p:sp>
      <p:sp>
        <p:nvSpPr>
          <p:cNvPr id="3" name="B1"/>
          <p:cNvSpPr>
            <a:spLocks noGrp="1"/>
          </p:cNvSpPr>
          <p:nvPr/>
        </p:nvSpPr>
        <p:spPr>
          <a:xfrm>
            <a:off x="457200" y="780000"/>
            <a:ext cx="112776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dirty="0" b="0">
                <a:solidFill>
                  <a:srgbClr val="162A52"/>
                </a:solidFill>
              </a:rPr>
              <a:t>Electronic Health Records migration — go-live August 1</a:t>
            </a:r>
          </a:p>
        </p:txBody>
      </p:sp>
      <p:sp>
        <p:nvSpPr>
          <p:cNvPr id="4" name="B2"/>
          <p:cNvSpPr>
            <a:spLocks noGrp="1"/>
          </p:cNvSpPr>
          <p:nvPr/>
        </p:nvSpPr>
        <p:spPr>
          <a:xfrm>
            <a:off x="457200" y="1380000"/>
            <a:ext cx="112776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dirty="0" b="0">
                <a:solidFill>
                  <a:srgbClr val="162A52"/>
                </a:solidFill>
              </a:rPr>
              <a:t>Telehealth expansion — 4 new clinics in Southwest region</a:t>
            </a:r>
          </a:p>
        </p:txBody>
      </p:sp>
      <p:sp>
        <p:nvSpPr>
          <p:cNvPr id="5" name="B3"/>
          <p:cNvSpPr>
            <a:spLocks noGrp="1"/>
          </p:cNvSpPr>
          <p:nvPr/>
        </p:nvSpPr>
        <p:spPr>
          <a:xfrm>
            <a:off x="457200" y="1980000"/>
            <a:ext cx="112776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dirty="0" b="0">
                <a:solidFill>
                  <a:srgbClr val="162A52"/>
                </a:solidFill>
              </a:rPr>
              <a:t>Staff retention program — $2.4M investment, Phase 1 active</a:t>
            </a:r>
          </a:p>
        </p:txBody>
      </p:sp>
      <p:sp>
        <p:nvSpPr>
          <p:cNvPr id="6" name="B4"/>
          <p:cNvSpPr>
            <a:spLocks noGrp="1"/>
          </p:cNvSpPr>
          <p:nvPr/>
        </p:nvSpPr>
        <p:spPr>
          <a:xfrm>
            <a:off x="457200" y="2580000"/>
            <a:ext cx="112776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dirty="0" b="0">
                <a:solidFill>
                  <a:srgbClr val="162A52"/>
                </a:solidFill>
              </a:rPr>
              <a:t>WCAG 2.1 AA compliance — 100% of patient portals by Q4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62A52"/>
      </a:dk2>
      <a:lt2>
        <a:srgbClr val="F7F8FC"/>
      </a:lt2>
      <a:accent1>
        <a:srgbClr val="1F5FA8"/>
      </a:accent1>
      <a:accent2>
        <a:srgbClr val="C2185B"/>
      </a:accent2>
      <a:accent3>
        <a:srgbClr val="3B6D11"/>
      </a:accent3>
      <a:accent4>
        <a:srgbClr val="BF8C00"/>
      </a:accent4>
      <a:accent5>
        <a:srgbClr val="4A5568"/>
      </a:accent5>
      <a:accent6>
        <a:srgbClr val="E2E8F0"/>
      </a:accent6>
      <a:hlink>
        <a:srgbClr val="1F5FA8"/>
      </a:hlink>
      <a:folHlink>
        <a:srgbClr val="4A5568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Jordan Rivera</dc:creator>
  <cp:lastModifiedBy>Jordan Rivera</cp:lastModifiedBy>
  <dcterms:created xsi:type="dcterms:W3CDTF">2026-06-19T08:00:00Z</dcterms:created>
</cp:coreProperties>
</file>