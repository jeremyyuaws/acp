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114800"/>
            <a:ext cx="5486400" cy="914400"/>
          </a:xfrm>
          <a:prstGeom prst="rect">
            <a:avLst/>
          </a:prstGeom>
          <a:solidFill>
            <a:srgbClr val="F07D00"/>
          </a:solidFill>
        </p:spPr>
        <p:txBody>
          <a:bodyPr wrap="none">
            <a:spAutoFit/>
          </a:bodyPr>
          <a:lstStyle/>
          <a:p>
            <a:r>
              <a:rPr sz="2000">
                <a:solidFill>
                  <a:srgbClr val="FFFFFF"/>
                </a:solidFill>
              </a:rPr>
              <a:t>Key metric 1: 87% compliant</a:t>
            </a:r>
          </a:p>
        </p:txBody>
      </p:sp>
      <p:sp>
        <p:nvSpPr>
          <p:cNvPr id="3" name="TextBox 2"/>
          <p:cNvSpPr txBox="1"/>
          <p:nvPr/>
        </p:nvSpPr>
        <p:spPr>
          <a:xfrm>
            <a:off x="457200" y="1097280"/>
            <a:ext cx="7315200" cy="2286000"/>
          </a:xfrm>
          <a:prstGeom prst="rect">
            <a:avLst/>
          </a:prstGeom>
          <a:noFill/>
        </p:spPr>
        <p:txBody>
          <a:bodyPr wrap="none">
            <a:spAutoFit/>
          </a:bodyPr>
          <a:lstStyle/>
          <a:p>
            <a:r>
              <a:t>The parties hereto agree that the obligations set forth in this instrument shall be binding upon their respective successors and assigns. Nothing in this section shall be construed to limit the remedies available at law or in equity. Time is of the essence. The parties hereto agree that the obligations set forth in this instrument shall be binding upon their respective successors and assigns. Nothing in this section shall be construed to limit the remedies available at law or in equity. Time is of the essence. </a:t>
            </a:r>
          </a:p>
        </p:txBody>
      </p:sp>
      <p:sp>
        <p:nvSpPr>
          <p:cNvPr id="4" name="TextBox 3"/>
          <p:cNvSpPr txBox="1"/>
          <p:nvPr/>
        </p:nvSpPr>
        <p:spPr>
          <a:xfrm>
            <a:off x="457200" y="182880"/>
            <a:ext cx="3657600" cy="548640"/>
          </a:xfrm>
          <a:prstGeom prst="rect">
            <a:avLst/>
          </a:prstGeom>
          <a:noFill/>
        </p:spPr>
        <p:txBody>
          <a:bodyPr wrap="none">
            <a:spAutoFit/>
          </a:bodyPr>
          <a:lstStyle/>
          <a:p>
            <a:r>
              <a:t>(footer-note added last but sits at top) 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Provision 2</a:t>
            </a:r>
          </a:p>
        </p:txBody>
      </p:sp>
      <p:sp>
        <p:nvSpPr>
          <p:cNvPr id="3" name="TextBox 2"/>
          <p:cNvSpPr txBox="1"/>
          <p:nvPr/>
        </p:nvSpPr>
        <p:spPr>
          <a:xfrm>
            <a:off x="457200" y="4114800"/>
            <a:ext cx="5486400" cy="914400"/>
          </a:xfrm>
          <a:prstGeom prst="rect">
            <a:avLst/>
          </a:prstGeom>
          <a:solidFill>
            <a:srgbClr val="F07D00"/>
          </a:solidFill>
        </p:spPr>
        <p:txBody>
          <a:bodyPr wrap="none">
            <a:spAutoFit/>
          </a:bodyPr>
          <a:lstStyle/>
          <a:p>
            <a:r>
              <a:rPr sz="2000">
                <a:solidFill>
                  <a:srgbClr val="FFFFFF"/>
                </a:solidFill>
              </a:rPr>
              <a:t>Key metric 2: 87% compliant</a:t>
            </a:r>
          </a:p>
        </p:txBody>
      </p:sp>
      <p:sp>
        <p:nvSpPr>
          <p:cNvPr id="4" name="TextBox 3"/>
          <p:cNvSpPr txBox="1"/>
          <p:nvPr/>
        </p:nvSpPr>
        <p:spPr>
          <a:xfrm>
            <a:off x="457200" y="1097280"/>
            <a:ext cx="7315200" cy="2286000"/>
          </a:xfrm>
          <a:prstGeom prst="rect">
            <a:avLst/>
          </a:prstGeom>
          <a:noFill/>
        </p:spPr>
        <p:txBody>
          <a:bodyPr wrap="none">
            <a:spAutoFit/>
          </a:bodyPr>
          <a:lstStyle/>
          <a:p>
            <a:r>
              <a:t>The parties hereto agree that the obligations set forth in this instrument shall be binding upon their respective successors and assigns. Nothing in this section shall be construed to limit the remedies available at law or in equity. Time is of the essence. The parties hereto agree that the obligations set forth in this instrument shall be binding upon their respective successors and assigns. Nothing in this section shall be construed to limit the remedies available at law or in equity. Time is of the essence. </a:t>
            </a:r>
          </a:p>
        </p:txBody>
      </p:sp>
      <p:pic>
        <p:nvPicPr>
          <p:cNvPr id="5" name="Picture 4" descr="image.png"/>
          <p:cNvPicPr>
            <a:picLocks noChangeAspect="1"/>
          </p:cNvPicPr>
          <p:nvPr/>
        </p:nvPicPr>
        <p:blipFill>
          <a:blip r:embed="rId2"/>
          <a:stretch>
            <a:fillRect/>
          </a:stretch>
        </p:blipFill>
        <p:spPr>
          <a:xfrm>
            <a:off x="5486400" y="914400"/>
            <a:ext cx="2194560" cy="1463040"/>
          </a:xfrm>
          <a:prstGeom prst="rect">
            <a:avLst/>
          </a:prstGeom>
        </p:spPr>
      </p:pic>
      <p:sp>
        <p:nvSpPr>
          <p:cNvPr id="6" name="TextBox 5"/>
          <p:cNvSpPr txBox="1"/>
          <p:nvPr/>
        </p:nvSpPr>
        <p:spPr>
          <a:xfrm>
            <a:off x="457200" y="182880"/>
            <a:ext cx="3657600" cy="548640"/>
          </a:xfrm>
          <a:prstGeom prst="rect">
            <a:avLst/>
          </a:prstGeom>
          <a:noFill/>
        </p:spPr>
        <p:txBody>
          <a:bodyPr wrap="none">
            <a:spAutoFit/>
          </a:bodyPr>
          <a:lstStyle/>
          <a:p>
            <a:r>
              <a:t>(footer-note added last but sits at top) 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114800"/>
            <a:ext cx="5486400" cy="914400"/>
          </a:xfrm>
          <a:prstGeom prst="rect">
            <a:avLst/>
          </a:prstGeom>
          <a:solidFill>
            <a:srgbClr val="F07D00"/>
          </a:solidFill>
        </p:spPr>
        <p:txBody>
          <a:bodyPr wrap="none">
            <a:spAutoFit/>
          </a:bodyPr>
          <a:lstStyle/>
          <a:p>
            <a:r>
              <a:rPr sz="2000">
                <a:solidFill>
                  <a:srgbClr val="FFFFFF"/>
                </a:solidFill>
              </a:rPr>
              <a:t>Key metric 3: 87% compliant</a:t>
            </a:r>
          </a:p>
        </p:txBody>
      </p:sp>
      <p:sp>
        <p:nvSpPr>
          <p:cNvPr id="3" name="TextBox 2"/>
          <p:cNvSpPr txBox="1"/>
          <p:nvPr/>
        </p:nvSpPr>
        <p:spPr>
          <a:xfrm>
            <a:off x="457200" y="1097280"/>
            <a:ext cx="7315200" cy="2286000"/>
          </a:xfrm>
          <a:prstGeom prst="rect">
            <a:avLst/>
          </a:prstGeom>
          <a:noFill/>
        </p:spPr>
        <p:txBody>
          <a:bodyPr wrap="none">
            <a:spAutoFit/>
          </a:bodyPr>
          <a:lstStyle/>
          <a:p>
            <a:r>
              <a:t>The parties hereto agree that the obligations set forth in this instrument shall be binding upon their respective successors and assigns. Nothing in this section shall be construed to limit the remedies available at law or in equity. Time is of the essence. The parties hereto agree that the obligations set forth in this instrument shall be binding upon their respective successors and assigns. Nothing in this section shall be construed to limit the remedies available at law or in equity. Time is of the essence. </a:t>
            </a:r>
          </a:p>
        </p:txBody>
      </p:sp>
      <p:sp>
        <p:nvSpPr>
          <p:cNvPr id="4" name="TextBox 3"/>
          <p:cNvSpPr txBox="1"/>
          <p:nvPr/>
        </p:nvSpPr>
        <p:spPr>
          <a:xfrm>
            <a:off x="457200" y="182880"/>
            <a:ext cx="3657600" cy="548640"/>
          </a:xfrm>
          <a:prstGeom prst="rect">
            <a:avLst/>
          </a:prstGeom>
          <a:noFill/>
        </p:spPr>
        <p:txBody>
          <a:bodyPr wrap="none">
            <a:spAutoFit/>
          </a:bodyPr>
          <a:lstStyle/>
          <a:p>
            <a:r>
              <a:t>(footer-note added last but sits at top) 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Provision 4</a:t>
            </a:r>
          </a:p>
        </p:txBody>
      </p:sp>
      <p:sp>
        <p:nvSpPr>
          <p:cNvPr id="3" name="TextBox 2"/>
          <p:cNvSpPr txBox="1"/>
          <p:nvPr/>
        </p:nvSpPr>
        <p:spPr>
          <a:xfrm>
            <a:off x="457200" y="4114800"/>
            <a:ext cx="5486400" cy="914400"/>
          </a:xfrm>
          <a:prstGeom prst="rect">
            <a:avLst/>
          </a:prstGeom>
          <a:solidFill>
            <a:srgbClr val="F07D00"/>
          </a:solidFill>
        </p:spPr>
        <p:txBody>
          <a:bodyPr wrap="none">
            <a:spAutoFit/>
          </a:bodyPr>
          <a:lstStyle/>
          <a:p>
            <a:r>
              <a:rPr sz="2000">
                <a:solidFill>
                  <a:srgbClr val="FFFFFF"/>
                </a:solidFill>
              </a:rPr>
              <a:t>Key metric 4: 87% compliant</a:t>
            </a:r>
          </a:p>
        </p:txBody>
      </p:sp>
      <p:sp>
        <p:nvSpPr>
          <p:cNvPr id="4" name="TextBox 3"/>
          <p:cNvSpPr txBox="1"/>
          <p:nvPr/>
        </p:nvSpPr>
        <p:spPr>
          <a:xfrm>
            <a:off x="457200" y="1097280"/>
            <a:ext cx="7315200" cy="2286000"/>
          </a:xfrm>
          <a:prstGeom prst="rect">
            <a:avLst/>
          </a:prstGeom>
          <a:noFill/>
        </p:spPr>
        <p:txBody>
          <a:bodyPr wrap="none">
            <a:spAutoFit/>
          </a:bodyPr>
          <a:lstStyle/>
          <a:p>
            <a:r>
              <a:t>The parties hereto agree that the obligations set forth in this instrument shall be binding upon their respective successors and assigns. Nothing in this section shall be construed to limit the remedies available at law or in equity. Time is of the essence. The parties hereto agree that the obligations set forth in this instrument shall be binding upon their respective successors and assigns. Nothing in this section shall be construed to limit the remedies available at law or in equity. Time is of the essence. </a:t>
            </a:r>
          </a:p>
        </p:txBody>
      </p:sp>
      <p:sp>
        <p:nvSpPr>
          <p:cNvPr id="5" name="TextBox 4"/>
          <p:cNvSpPr txBox="1"/>
          <p:nvPr/>
        </p:nvSpPr>
        <p:spPr>
          <a:xfrm>
            <a:off x="457200" y="182880"/>
            <a:ext cx="3657600" cy="548640"/>
          </a:xfrm>
          <a:prstGeom prst="rect">
            <a:avLst/>
          </a:prstGeom>
          <a:noFill/>
        </p:spPr>
        <p:txBody>
          <a:bodyPr wrap="none">
            <a:spAutoFit/>
          </a:bodyPr>
          <a:lstStyle/>
          <a:p>
            <a:r>
              <a:t>(footer-note added last but sits at top) 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114800"/>
            <a:ext cx="5486400" cy="914400"/>
          </a:xfrm>
          <a:prstGeom prst="rect">
            <a:avLst/>
          </a:prstGeom>
          <a:solidFill>
            <a:srgbClr val="F07D00"/>
          </a:solidFill>
        </p:spPr>
        <p:txBody>
          <a:bodyPr wrap="none">
            <a:spAutoFit/>
          </a:bodyPr>
          <a:lstStyle/>
          <a:p>
            <a:r>
              <a:rPr sz="2000">
                <a:solidFill>
                  <a:srgbClr val="FFFFFF"/>
                </a:solidFill>
              </a:rPr>
              <a:t>Key metric 5: 87% compliant</a:t>
            </a:r>
          </a:p>
        </p:txBody>
      </p:sp>
      <p:sp>
        <p:nvSpPr>
          <p:cNvPr id="3" name="TextBox 2"/>
          <p:cNvSpPr txBox="1"/>
          <p:nvPr/>
        </p:nvSpPr>
        <p:spPr>
          <a:xfrm>
            <a:off x="457200" y="1097280"/>
            <a:ext cx="7315200" cy="2286000"/>
          </a:xfrm>
          <a:prstGeom prst="rect">
            <a:avLst/>
          </a:prstGeom>
          <a:noFill/>
        </p:spPr>
        <p:txBody>
          <a:bodyPr wrap="none">
            <a:spAutoFit/>
          </a:bodyPr>
          <a:lstStyle/>
          <a:p>
            <a:r>
              <a:t>The parties hereto agree that the obligations set forth in this instrument shall be binding upon their respective successors and assigns. Nothing in this section shall be construed to limit the remedies available at law or in equity. Time is of the essence. The parties hereto agree that the obligations set forth in this instrument shall be binding upon their respective successors and assigns. Nothing in this section shall be construed to limit the remedies available at law or in equity. Time is of the essence. </a:t>
            </a:r>
          </a:p>
        </p:txBody>
      </p:sp>
      <p:sp>
        <p:nvSpPr>
          <p:cNvPr id="4" name="TextBox 3"/>
          <p:cNvSpPr txBox="1"/>
          <p:nvPr/>
        </p:nvSpPr>
        <p:spPr>
          <a:xfrm>
            <a:off x="457200" y="182880"/>
            <a:ext cx="3657600" cy="548640"/>
          </a:xfrm>
          <a:prstGeom prst="rect">
            <a:avLst/>
          </a:prstGeom>
          <a:noFill/>
        </p:spPr>
        <p:txBody>
          <a:bodyPr wrap="none">
            <a:spAutoFit/>
          </a:bodyPr>
          <a:lstStyle/>
          <a:p>
            <a:r>
              <a:t>(footer-note added last but sits at top) 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Provision 6</a:t>
            </a:r>
          </a:p>
        </p:txBody>
      </p:sp>
      <p:sp>
        <p:nvSpPr>
          <p:cNvPr id="3" name="TextBox 2"/>
          <p:cNvSpPr txBox="1"/>
          <p:nvPr/>
        </p:nvSpPr>
        <p:spPr>
          <a:xfrm>
            <a:off x="457200" y="4114800"/>
            <a:ext cx="5486400" cy="914400"/>
          </a:xfrm>
          <a:prstGeom prst="rect">
            <a:avLst/>
          </a:prstGeom>
          <a:solidFill>
            <a:srgbClr val="F07D00"/>
          </a:solidFill>
        </p:spPr>
        <p:txBody>
          <a:bodyPr wrap="none">
            <a:spAutoFit/>
          </a:bodyPr>
          <a:lstStyle/>
          <a:p>
            <a:r>
              <a:rPr sz="2000">
                <a:solidFill>
                  <a:srgbClr val="FFFFFF"/>
                </a:solidFill>
              </a:rPr>
              <a:t>Key metric 6: 87% compliant</a:t>
            </a:r>
          </a:p>
        </p:txBody>
      </p:sp>
      <p:sp>
        <p:nvSpPr>
          <p:cNvPr id="4" name="TextBox 3"/>
          <p:cNvSpPr txBox="1"/>
          <p:nvPr/>
        </p:nvSpPr>
        <p:spPr>
          <a:xfrm>
            <a:off x="457200" y="1097280"/>
            <a:ext cx="7315200" cy="2286000"/>
          </a:xfrm>
          <a:prstGeom prst="rect">
            <a:avLst/>
          </a:prstGeom>
          <a:noFill/>
        </p:spPr>
        <p:txBody>
          <a:bodyPr wrap="none">
            <a:spAutoFit/>
          </a:bodyPr>
          <a:lstStyle/>
          <a:p>
            <a:r>
              <a:t>The parties hereto agree that the obligations set forth in this instrument shall be binding upon their respective successors and assigns. Nothing in this section shall be construed to limit the remedies available at law or in equity. Time is of the essence. The parties hereto agree that the obligations set forth in this instrument shall be binding upon their respective successors and assigns. Nothing in this section shall be construed to limit the remedies available at law or in equity. Time is of the essence. </a:t>
            </a:r>
          </a:p>
        </p:txBody>
      </p:sp>
      <p:sp>
        <p:nvSpPr>
          <p:cNvPr id="5" name="TextBox 4"/>
          <p:cNvSpPr txBox="1"/>
          <p:nvPr/>
        </p:nvSpPr>
        <p:spPr>
          <a:xfrm>
            <a:off x="457200" y="182880"/>
            <a:ext cx="3657600" cy="548640"/>
          </a:xfrm>
          <a:prstGeom prst="rect">
            <a:avLst/>
          </a:prstGeom>
          <a:noFill/>
        </p:spPr>
        <p:txBody>
          <a:bodyPr wrap="none">
            <a:spAutoFit/>
          </a:bodyPr>
          <a:lstStyle/>
          <a:p>
            <a:r>
              <a:t>(footer-note added last but sits at top) 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114800"/>
            <a:ext cx="5486400" cy="914400"/>
          </a:xfrm>
          <a:prstGeom prst="rect">
            <a:avLst/>
          </a:prstGeom>
          <a:solidFill>
            <a:srgbClr val="F07D00"/>
          </a:solidFill>
        </p:spPr>
        <p:txBody>
          <a:bodyPr wrap="none">
            <a:spAutoFit/>
          </a:bodyPr>
          <a:lstStyle/>
          <a:p>
            <a:r>
              <a:rPr sz="2000">
                <a:solidFill>
                  <a:srgbClr val="FFFFFF"/>
                </a:solidFill>
              </a:rPr>
              <a:t>Key metric 7: 87% compliant</a:t>
            </a:r>
          </a:p>
        </p:txBody>
      </p:sp>
      <p:sp>
        <p:nvSpPr>
          <p:cNvPr id="3" name="TextBox 2"/>
          <p:cNvSpPr txBox="1"/>
          <p:nvPr/>
        </p:nvSpPr>
        <p:spPr>
          <a:xfrm>
            <a:off x="457200" y="1097280"/>
            <a:ext cx="7315200" cy="2286000"/>
          </a:xfrm>
          <a:prstGeom prst="rect">
            <a:avLst/>
          </a:prstGeom>
          <a:noFill/>
        </p:spPr>
        <p:txBody>
          <a:bodyPr wrap="none">
            <a:spAutoFit/>
          </a:bodyPr>
          <a:lstStyle/>
          <a:p>
            <a:r>
              <a:t>The parties hereto agree that the obligations set forth in this instrument shall be binding upon their respective successors and assigns. Nothing in this section shall be construed to limit the remedies available at law or in equity. Time is of the essence. The parties hereto agree that the obligations set forth in this instrument shall be binding upon their respective successors and assigns. Nothing in this section shall be construed to limit the remedies available at law or in equity. Time is of the essence. </a:t>
            </a:r>
          </a:p>
        </p:txBody>
      </p:sp>
      <p:sp>
        <p:nvSpPr>
          <p:cNvPr id="4" name="TextBox 3"/>
          <p:cNvSpPr txBox="1"/>
          <p:nvPr/>
        </p:nvSpPr>
        <p:spPr>
          <a:xfrm>
            <a:off x="457200" y="182880"/>
            <a:ext cx="3657600" cy="548640"/>
          </a:xfrm>
          <a:prstGeom prst="rect">
            <a:avLst/>
          </a:prstGeom>
          <a:noFill/>
        </p:spPr>
        <p:txBody>
          <a:bodyPr wrap="none">
            <a:spAutoFit/>
          </a:bodyPr>
          <a:lstStyle/>
          <a:p>
            <a:r>
              <a:t>(footer-note added last but sits at top) 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Provision 8</a:t>
            </a:r>
          </a:p>
        </p:txBody>
      </p:sp>
      <p:sp>
        <p:nvSpPr>
          <p:cNvPr id="3" name="TextBox 2"/>
          <p:cNvSpPr txBox="1"/>
          <p:nvPr/>
        </p:nvSpPr>
        <p:spPr>
          <a:xfrm>
            <a:off x="457200" y="4114800"/>
            <a:ext cx="5486400" cy="914400"/>
          </a:xfrm>
          <a:prstGeom prst="rect">
            <a:avLst/>
          </a:prstGeom>
          <a:solidFill>
            <a:srgbClr val="F07D00"/>
          </a:solidFill>
        </p:spPr>
        <p:txBody>
          <a:bodyPr wrap="none">
            <a:spAutoFit/>
          </a:bodyPr>
          <a:lstStyle/>
          <a:p>
            <a:r>
              <a:rPr sz="2000">
                <a:solidFill>
                  <a:srgbClr val="FFFFFF"/>
                </a:solidFill>
              </a:rPr>
              <a:t>Key metric 8: 87% compliant</a:t>
            </a:r>
          </a:p>
        </p:txBody>
      </p:sp>
      <p:sp>
        <p:nvSpPr>
          <p:cNvPr id="4" name="TextBox 3"/>
          <p:cNvSpPr txBox="1"/>
          <p:nvPr/>
        </p:nvSpPr>
        <p:spPr>
          <a:xfrm>
            <a:off x="457200" y="1097280"/>
            <a:ext cx="7315200" cy="2286000"/>
          </a:xfrm>
          <a:prstGeom prst="rect">
            <a:avLst/>
          </a:prstGeom>
          <a:noFill/>
        </p:spPr>
        <p:txBody>
          <a:bodyPr wrap="none">
            <a:spAutoFit/>
          </a:bodyPr>
          <a:lstStyle/>
          <a:p>
            <a:r>
              <a:t>The parties hereto agree that the obligations set forth in this instrument shall be binding upon their respective successors and assigns. Nothing in this section shall be construed to limit the remedies available at law or in equity. Time is of the essence. The parties hereto agree that the obligations set forth in this instrument shall be binding upon their respective successors and assigns. Nothing in this section shall be construed to limit the remedies available at law or in equity. Time is of the essence. </a:t>
            </a:r>
          </a:p>
        </p:txBody>
      </p:sp>
      <p:sp>
        <p:nvSpPr>
          <p:cNvPr id="5" name="TextBox 4"/>
          <p:cNvSpPr txBox="1"/>
          <p:nvPr/>
        </p:nvSpPr>
        <p:spPr>
          <a:xfrm>
            <a:off x="457200" y="182880"/>
            <a:ext cx="3657600" cy="548640"/>
          </a:xfrm>
          <a:prstGeom prst="rect">
            <a:avLst/>
          </a:prstGeom>
          <a:noFill/>
        </p:spPr>
        <p:txBody>
          <a:bodyPr wrap="none">
            <a:spAutoFit/>
          </a:bodyPr>
          <a:lstStyle/>
          <a:p>
            <a:r>
              <a:t>(footer-note added last but sits at top) 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114800"/>
            <a:ext cx="5486400" cy="914400"/>
          </a:xfrm>
          <a:prstGeom prst="rect">
            <a:avLst/>
          </a:prstGeom>
          <a:solidFill>
            <a:srgbClr val="F07D00"/>
          </a:solidFill>
        </p:spPr>
        <p:txBody>
          <a:bodyPr wrap="none">
            <a:spAutoFit/>
          </a:bodyPr>
          <a:lstStyle/>
          <a:p>
            <a:r>
              <a:rPr sz="2000">
                <a:solidFill>
                  <a:srgbClr val="FFFFFF"/>
                </a:solidFill>
              </a:rPr>
              <a:t>Key metric 9: 87% compliant</a:t>
            </a:r>
          </a:p>
        </p:txBody>
      </p:sp>
      <p:sp>
        <p:nvSpPr>
          <p:cNvPr id="3" name="TextBox 2"/>
          <p:cNvSpPr txBox="1"/>
          <p:nvPr/>
        </p:nvSpPr>
        <p:spPr>
          <a:xfrm>
            <a:off x="457200" y="1097280"/>
            <a:ext cx="7315200" cy="2286000"/>
          </a:xfrm>
          <a:prstGeom prst="rect">
            <a:avLst/>
          </a:prstGeom>
          <a:noFill/>
        </p:spPr>
        <p:txBody>
          <a:bodyPr wrap="none">
            <a:spAutoFit/>
          </a:bodyPr>
          <a:lstStyle/>
          <a:p>
            <a:r>
              <a:t>The parties hereto agree that the obligations set forth in this instrument shall be binding upon their respective successors and assigns. Nothing in this section shall be construed to limit the remedies available at law or in equity. Time is of the essence. The parties hereto agree that the obligations set forth in this instrument shall be binding upon their respective successors and assigns. Nothing in this section shall be construed to limit the remedies available at law or in equity. Time is of the essence. </a:t>
            </a:r>
          </a:p>
        </p:txBody>
      </p:sp>
      <p:sp>
        <p:nvSpPr>
          <p:cNvPr id="4" name="TextBox 3"/>
          <p:cNvSpPr txBox="1"/>
          <p:nvPr/>
        </p:nvSpPr>
        <p:spPr>
          <a:xfrm>
            <a:off x="457200" y="182880"/>
            <a:ext cx="3657600" cy="548640"/>
          </a:xfrm>
          <a:prstGeom prst="rect">
            <a:avLst/>
          </a:prstGeom>
          <a:noFill/>
        </p:spPr>
        <p:txBody>
          <a:bodyPr wrap="none">
            <a:spAutoFit/>
          </a:bodyPr>
          <a:lstStyle/>
          <a:p>
            <a:r>
              <a:t>(footer-note added last but sits at top) 9</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